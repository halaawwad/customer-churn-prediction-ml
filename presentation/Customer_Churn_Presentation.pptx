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lecom_ml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1143000"/>
            <a:ext cx="548640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Customer Churn Prediction</a:t>
            </a:r>
          </a:p>
          <a:p>
            <a:pPr>
              <a:defRPr sz="2600">
                <a:solidFill>
                  <a:srgbClr val="232323"/>
                </a:solidFill>
              </a:defRPr>
            </a:pPr>
            <a:r>
              <a:t>Using Machine Learning</a:t>
            </a:r>
          </a:p>
          <a:p>
            <a:pPr>
              <a:defRPr sz="1800">
                <a:solidFill>
                  <a:srgbClr val="232323"/>
                </a:solidFill>
              </a:defRPr>
            </a:pPr>
            <a:r>
              <a:t>Decision Tree | SVM | K-Means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Problem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5669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32323"/>
                </a:solidFill>
              </a:defRPr>
            </a:pPr>
            <a:r>
              <a:t>Customer churn means a customer leaves the company.</a:t>
            </a:r>
          </a:p>
          <a:p>
            <a:pPr>
              <a:spcAft>
                <a:spcPts val="800"/>
              </a:spcAft>
              <a:defRPr sz="2000">
                <a:solidFill>
                  <a:srgbClr val="232323"/>
                </a:solidFill>
              </a:defRPr>
            </a:pPr>
            <a:r>
              <a:t>Predicting churn helps telecom companies target retention offers.</a:t>
            </a:r>
          </a:p>
          <a:p>
            <a:pPr>
              <a:spcAft>
                <a:spcPts val="800"/>
              </a:spcAft>
              <a:defRPr sz="2000">
                <a:solidFill>
                  <a:srgbClr val="232323"/>
                </a:solidFill>
              </a:defRPr>
            </a:pPr>
            <a:r>
              <a:t>The goal is to classify each customer as Churn = Yes or No.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0" y="1463040"/>
            <a:ext cx="43891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32323"/>
                </a:solidFill>
              </a:defRPr>
            </a:pPr>
            <a:r>
              <a:t>Business value:</a:t>
            </a:r>
          </a:p>
          <a:p>
            <a:pPr>
              <a:spcAft>
                <a:spcPts val="800"/>
              </a:spcAft>
              <a:defRPr sz="2100">
                <a:solidFill>
                  <a:srgbClr val="232323"/>
                </a:solidFill>
              </a:defRPr>
            </a:pPr>
            <a:r>
              <a:t>Lower retention cost</a:t>
            </a:r>
          </a:p>
          <a:p>
            <a:pPr>
              <a:spcAft>
                <a:spcPts val="800"/>
              </a:spcAft>
              <a:defRPr sz="2100">
                <a:solidFill>
                  <a:srgbClr val="232323"/>
                </a:solidFill>
              </a:defRPr>
            </a:pPr>
            <a:r>
              <a:t>Earlier risk detection</a:t>
            </a:r>
          </a:p>
          <a:p>
            <a:pPr>
              <a:spcAft>
                <a:spcPts val="800"/>
              </a:spcAft>
              <a:defRPr sz="2100">
                <a:solidFill>
                  <a:srgbClr val="232323"/>
                </a:solidFill>
              </a:defRPr>
            </a:pPr>
            <a:r>
              <a:t>Better customer segmentation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52120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32323"/>
                </a:solidFill>
              </a:defRPr>
            </a:pPr>
            <a:r>
              <a:t>Telco Customer Churn Dataset</a:t>
            </a:r>
          </a:p>
          <a:p>
            <a:pPr>
              <a:spcAft>
                <a:spcPts val="800"/>
              </a:spcAft>
              <a:defRPr sz="2000">
                <a:solidFill>
                  <a:srgbClr val="232323"/>
                </a:solidFill>
              </a:defRPr>
            </a:pPr>
            <a:r>
              <a:t>Approximately 7043 customer records</a:t>
            </a:r>
          </a:p>
          <a:p>
            <a:pPr>
              <a:spcAft>
                <a:spcPts val="800"/>
              </a:spcAft>
              <a:defRPr sz="2000">
                <a:solidFill>
                  <a:srgbClr val="232323"/>
                </a:solidFill>
              </a:defRPr>
            </a:pPr>
            <a:r>
              <a:t>21 attributes</a:t>
            </a:r>
          </a:p>
          <a:p>
            <a:pPr>
              <a:spcAft>
                <a:spcPts val="800"/>
              </a:spcAft>
              <a:defRPr sz="2000">
                <a:solidFill>
                  <a:srgbClr val="232323"/>
                </a:solidFill>
              </a:defRPr>
            </a:pPr>
            <a:r>
              <a:t>Target variable: Churn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92240" y="1417320"/>
            <a:ext cx="466344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32323"/>
                </a:solidFill>
              </a:defRPr>
            </a:pPr>
            <a:r>
              <a:t>Main feature groups:</a:t>
            </a:r>
          </a:p>
          <a:p>
            <a:pPr>
              <a:spcAft>
                <a:spcPts val="800"/>
              </a:spcAft>
              <a:defRPr sz="2000">
                <a:solidFill>
                  <a:srgbClr val="232323"/>
                </a:solidFill>
              </a:defRPr>
            </a:pPr>
            <a:r>
              <a:t>Demographic attributes</a:t>
            </a:r>
          </a:p>
          <a:p>
            <a:pPr>
              <a:spcAft>
                <a:spcPts val="800"/>
              </a:spcAft>
              <a:defRPr sz="2000">
                <a:solidFill>
                  <a:srgbClr val="232323"/>
                </a:solidFill>
              </a:defRPr>
            </a:pPr>
            <a:r>
              <a:t>Service subscriptions</a:t>
            </a:r>
          </a:p>
          <a:p>
            <a:pPr>
              <a:spcAft>
                <a:spcPts val="800"/>
              </a:spcAft>
              <a:defRPr sz="2000">
                <a:solidFill>
                  <a:srgbClr val="232323"/>
                </a:solidFill>
              </a:defRPr>
            </a:pPr>
            <a:r>
              <a:t>Contract and billing information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Data Understanding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53035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32323"/>
                </a:solidFill>
              </a:defRPr>
            </a:pPr>
            <a:r>
              <a:t>Analyze rows, columns, and data types</a:t>
            </a:r>
          </a:p>
          <a:p>
            <a:pPr>
              <a:spcAft>
                <a:spcPts val="800"/>
              </a:spcAft>
              <a:defRPr sz="2000">
                <a:solidFill>
                  <a:srgbClr val="232323"/>
                </a:solidFill>
              </a:defRPr>
            </a:pPr>
            <a:r>
              <a:t>Check missing values</a:t>
            </a:r>
          </a:p>
          <a:p>
            <a:pPr>
              <a:spcAft>
                <a:spcPts val="800"/>
              </a:spcAft>
              <a:defRPr sz="2000">
                <a:solidFill>
                  <a:srgbClr val="232323"/>
                </a:solidFill>
              </a:defRPr>
            </a:pPr>
            <a:r>
              <a:t>Study class distribution</a:t>
            </a:r>
          </a:p>
          <a:p>
            <a:pPr>
              <a:spcAft>
                <a:spcPts val="800"/>
              </a:spcAft>
              <a:defRPr sz="2000">
                <a:solidFill>
                  <a:srgbClr val="232323"/>
                </a:solidFill>
              </a:defRPr>
            </a:pPr>
            <a:r>
              <a:t>Visualize important variables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371600"/>
            <a:ext cx="50292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32323"/>
                </a:solidFill>
              </a:defRPr>
            </a:pPr>
            <a:r>
              <a:t>Recommended charts:</a:t>
            </a:r>
          </a:p>
          <a:p>
            <a:pPr>
              <a:spcAft>
                <a:spcPts val="800"/>
              </a:spcAft>
              <a:defRPr sz="2000">
                <a:solidFill>
                  <a:srgbClr val="232323"/>
                </a:solidFill>
              </a:defRPr>
            </a:pPr>
            <a:r>
              <a:t>Churn distribution</a:t>
            </a:r>
          </a:p>
          <a:p>
            <a:pPr>
              <a:spcAft>
                <a:spcPts val="800"/>
              </a:spcAft>
              <a:defRPr sz="2000">
                <a:solidFill>
                  <a:srgbClr val="232323"/>
                </a:solidFill>
              </a:defRPr>
            </a:pPr>
            <a:r>
              <a:t>Contract vs Churn</a:t>
            </a:r>
          </a:p>
          <a:p>
            <a:pPr>
              <a:spcAft>
                <a:spcPts val="800"/>
              </a:spcAft>
              <a:defRPr sz="2000">
                <a:solidFill>
                  <a:srgbClr val="232323"/>
                </a:solidFill>
              </a:defRPr>
            </a:pPr>
            <a:r>
              <a:t>Tenure distribution</a:t>
            </a:r>
          </a:p>
          <a:p>
            <a:pPr>
              <a:spcAft>
                <a:spcPts val="800"/>
              </a:spcAft>
              <a:defRPr sz="2000">
                <a:solidFill>
                  <a:srgbClr val="232323"/>
                </a:solidFill>
              </a:defRPr>
            </a:pPr>
            <a:r>
              <a:t>Monthly charges distribution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Preprocessing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64008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32323"/>
                </a:solidFill>
              </a:defRPr>
            </a:pPr>
            <a:r>
              <a:t>Drop customerID</a:t>
            </a:r>
          </a:p>
          <a:p>
            <a:pPr>
              <a:spcAft>
                <a:spcPts val="800"/>
              </a:spcAft>
              <a:defRPr sz="2000">
                <a:solidFill>
                  <a:srgbClr val="232323"/>
                </a:solidFill>
              </a:defRPr>
            </a:pPr>
            <a:r>
              <a:t>Convert TotalCharges to numeric</a:t>
            </a:r>
          </a:p>
          <a:p>
            <a:pPr>
              <a:spcAft>
                <a:spcPts val="800"/>
              </a:spcAft>
              <a:defRPr sz="2000">
                <a:solidFill>
                  <a:srgbClr val="232323"/>
                </a:solidFill>
              </a:defRPr>
            </a:pPr>
            <a:r>
              <a:t>Impute missing values</a:t>
            </a:r>
          </a:p>
          <a:p>
            <a:pPr>
              <a:spcAft>
                <a:spcPts val="800"/>
              </a:spcAft>
              <a:defRPr sz="2000">
                <a:solidFill>
                  <a:srgbClr val="232323"/>
                </a:solidFill>
              </a:defRPr>
            </a:pPr>
            <a:r>
              <a:t>One-hot encode categorical variables</a:t>
            </a:r>
          </a:p>
          <a:p>
            <a:pPr>
              <a:spcAft>
                <a:spcPts val="800"/>
              </a:spcAft>
              <a:defRPr sz="2000">
                <a:solidFill>
                  <a:srgbClr val="232323"/>
                </a:solidFill>
              </a:defRPr>
            </a:pPr>
            <a:r>
              <a:t>Scale numerical variables for SVM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0" y="1463040"/>
            <a:ext cx="420624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Why preprocessing matters:</a:t>
            </a:r>
          </a:p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Models require numeric inputs.</a:t>
            </a:r>
          </a:p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Missing values can break training.</a:t>
            </a:r>
          </a:p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SVM is sensitive to feature scale.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Sampling and Feature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515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32323"/>
                </a:solidFill>
              </a:defRPr>
            </a:pPr>
            <a:r>
              <a:t>Train/test split: 70% training and 30% testing</a:t>
            </a:r>
          </a:p>
          <a:p>
            <a:pPr>
              <a:spcAft>
                <a:spcPts val="800"/>
              </a:spcAft>
              <a:defRPr sz="2000">
                <a:solidFill>
                  <a:srgbClr val="232323"/>
                </a:solidFill>
              </a:defRPr>
            </a:pPr>
            <a:r>
              <a:t>Stratified sampling keeps churn ratio stable</a:t>
            </a:r>
          </a:p>
          <a:p>
            <a:pPr>
              <a:spcAft>
                <a:spcPts val="800"/>
              </a:spcAft>
              <a:defRPr sz="2000">
                <a:solidFill>
                  <a:srgbClr val="232323"/>
                </a:solidFill>
              </a:defRPr>
            </a:pPr>
            <a:r>
              <a:t>Feature importance explains which variables matter</a:t>
            </a:r>
          </a:p>
          <a:p>
            <a:pPr>
              <a:spcAft>
                <a:spcPts val="800"/>
              </a:spcAft>
              <a:defRPr sz="2000">
                <a:solidFill>
                  <a:srgbClr val="232323"/>
                </a:solidFill>
              </a:defRPr>
            </a:pPr>
            <a:r>
              <a:t>Dimensionality is controlled by removing identifiers and analyzing importance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Classification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53035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32323"/>
                </a:solidFill>
              </a:defRPr>
            </a:pPr>
            <a:r>
              <a:t>Decision Tree Classifier</a:t>
            </a:r>
          </a:p>
          <a:p>
            <a:pPr>
              <a:spcAft>
                <a:spcPts val="800"/>
              </a:spcAft>
              <a:defRPr sz="2000">
                <a:solidFill>
                  <a:srgbClr val="232323"/>
                </a:solidFill>
              </a:defRPr>
            </a:pPr>
            <a:r>
              <a:t>Interpretable and easy to explain</a:t>
            </a:r>
          </a:p>
          <a:p>
            <a:pPr>
              <a:spcAft>
                <a:spcPts val="800"/>
              </a:spcAft>
              <a:defRPr sz="2000">
                <a:solidFill>
                  <a:srgbClr val="232323"/>
                </a:solidFill>
              </a:defRPr>
            </a:pPr>
            <a:r>
              <a:t>Uses max_depth to reduce overfitting</a:t>
            </a:r>
          </a:p>
          <a:p>
            <a:pPr>
              <a:spcAft>
                <a:spcPts val="800"/>
              </a:spcAft>
              <a:defRPr sz="2000">
                <a:solidFill>
                  <a:srgbClr val="232323"/>
                </a:solidFill>
              </a:defRPr>
            </a:pPr>
            <a:r>
              <a:t>Provides feature importance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325880"/>
            <a:ext cx="50292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32323"/>
                </a:solidFill>
              </a:defRPr>
            </a:pPr>
            <a:r>
              <a:t>Support Vector Machine</a:t>
            </a:r>
          </a:p>
          <a:p>
            <a:pPr>
              <a:spcAft>
                <a:spcPts val="800"/>
              </a:spcAft>
              <a:defRPr sz="2000">
                <a:solidFill>
                  <a:srgbClr val="232323"/>
                </a:solidFill>
              </a:defRPr>
            </a:pPr>
            <a:r>
              <a:t>Good for classification</a:t>
            </a:r>
          </a:p>
          <a:p>
            <a:pPr>
              <a:spcAft>
                <a:spcPts val="800"/>
              </a:spcAft>
              <a:defRPr sz="2000">
                <a:solidFill>
                  <a:srgbClr val="232323"/>
                </a:solidFill>
              </a:defRPr>
            </a:pPr>
            <a:r>
              <a:t>Uses RBF kernel for nonlinear boundaries</a:t>
            </a:r>
          </a:p>
          <a:p>
            <a:pPr>
              <a:spcAft>
                <a:spcPts val="800"/>
              </a:spcAft>
              <a:defRPr sz="2000">
                <a:solidFill>
                  <a:srgbClr val="232323"/>
                </a:solidFill>
              </a:defRPr>
            </a:pPr>
            <a:r>
              <a:t>Requires scaling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K-Means Clustering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42416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32323"/>
                </a:solidFill>
              </a:defRPr>
            </a:pPr>
            <a:r>
              <a:t>Unsupervised method used to discover customer segments</a:t>
            </a:r>
          </a:p>
          <a:p>
            <a:pPr>
              <a:spcAft>
                <a:spcPts val="800"/>
              </a:spcAft>
              <a:defRPr sz="2000">
                <a:solidFill>
                  <a:srgbClr val="232323"/>
                </a:solidFill>
              </a:defRPr>
            </a:pPr>
            <a:r>
              <a:t>Does not use Churn labels during training</a:t>
            </a:r>
          </a:p>
          <a:p>
            <a:pPr>
              <a:spcAft>
                <a:spcPts val="800"/>
              </a:spcAft>
              <a:defRPr sz="2000">
                <a:solidFill>
                  <a:srgbClr val="232323"/>
                </a:solidFill>
              </a:defRPr>
            </a:pPr>
            <a:r>
              <a:t>Uses k=3 customer groups</a:t>
            </a:r>
          </a:p>
          <a:p>
            <a:pPr>
              <a:spcAft>
                <a:spcPts val="800"/>
              </a:spcAft>
              <a:defRPr sz="2000">
                <a:solidFill>
                  <a:srgbClr val="232323"/>
                </a:solidFill>
              </a:defRPr>
            </a:pPr>
            <a:r>
              <a:t>PCA visualization helps explain clusters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Evaluation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42416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32323"/>
                </a:solidFill>
              </a:defRPr>
            </a:pPr>
            <a:r>
              <a:t>Accuracy: overall correctness</a:t>
            </a:r>
          </a:p>
          <a:p>
            <a:pPr>
              <a:spcAft>
                <a:spcPts val="800"/>
              </a:spcAft>
              <a:defRPr sz="2000">
                <a:solidFill>
                  <a:srgbClr val="232323"/>
                </a:solidFill>
              </a:defRPr>
            </a:pPr>
            <a:r>
              <a:t>Precision: correctness among predicted churn customers</a:t>
            </a:r>
          </a:p>
          <a:p>
            <a:pPr>
              <a:spcAft>
                <a:spcPts val="800"/>
              </a:spcAft>
              <a:defRPr sz="2000">
                <a:solidFill>
                  <a:srgbClr val="232323"/>
                </a:solidFill>
              </a:defRPr>
            </a:pPr>
            <a:r>
              <a:t>Recall: ability to catch actual churn customers</a:t>
            </a:r>
          </a:p>
          <a:p>
            <a:pPr>
              <a:spcAft>
                <a:spcPts val="800"/>
              </a:spcAft>
              <a:defRPr sz="2000">
                <a:solidFill>
                  <a:srgbClr val="232323"/>
                </a:solidFill>
              </a:defRPr>
            </a:pPr>
            <a:r>
              <a:t>F1-score: balance between precision and recall</a:t>
            </a:r>
          </a:p>
          <a:p>
            <a:pPr>
              <a:spcAft>
                <a:spcPts val="800"/>
              </a:spcAft>
              <a:defRPr sz="2000">
                <a:solidFill>
                  <a:srgbClr val="232323"/>
                </a:solidFill>
              </a:defRPr>
            </a:pPr>
            <a:r>
              <a:t>Confusion matrix: detailed error breakdown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42416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32323"/>
                </a:solidFill>
              </a:defRPr>
            </a:pPr>
            <a:r>
              <a:t>The project implements a complete ML pipeline.</a:t>
            </a:r>
          </a:p>
          <a:p>
            <a:pPr>
              <a:spcAft>
                <a:spcPts val="800"/>
              </a:spcAft>
              <a:defRPr sz="2000">
                <a:solidFill>
                  <a:srgbClr val="232323"/>
                </a:solidFill>
              </a:defRPr>
            </a:pPr>
            <a:r>
              <a:t>Decision Tree offers interpretability.</a:t>
            </a:r>
          </a:p>
          <a:p>
            <a:pPr>
              <a:spcAft>
                <a:spcPts val="800"/>
              </a:spcAft>
              <a:defRPr sz="2000">
                <a:solidFill>
                  <a:srgbClr val="232323"/>
                </a:solidFill>
              </a:defRPr>
            </a:pPr>
            <a:r>
              <a:t>SVM can capture nonlinear churn patterns.</a:t>
            </a:r>
          </a:p>
          <a:p>
            <a:pPr>
              <a:spcAft>
                <a:spcPts val="800"/>
              </a:spcAft>
              <a:defRPr sz="2000">
                <a:solidFill>
                  <a:srgbClr val="232323"/>
                </a:solidFill>
              </a:defRPr>
            </a:pPr>
            <a:r>
              <a:t>K-Means adds customer segmentation insight.</a:t>
            </a:r>
          </a:p>
          <a:p>
            <a:pPr>
              <a:spcAft>
                <a:spcPts val="800"/>
              </a:spcAft>
              <a:defRPr sz="2000">
                <a:solidFill>
                  <a:srgbClr val="232323"/>
                </a:solidFill>
              </a:defRPr>
            </a:pPr>
            <a:r>
              <a:t>Final outputs are reproducible through the provided code.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